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de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69"/>
  </p:normalViewPr>
  <p:slideViewPr>
    <p:cSldViewPr snapToGrid="0">
      <p:cViewPr varScale="1">
        <p:scale>
          <a:sx n="95" d="100"/>
          <a:sy n="95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C0D6B-F25E-C795-BC14-E757033DC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8C32D4-8BDA-17A3-544C-0D1789A28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9E7990-3E50-62A7-BE7E-5F5EFC54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8351BA-86EC-4F2D-F0DF-BB82A7EB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BA22EF-6056-55A9-F9AB-811FDD9B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7207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11A598-B718-2230-0D07-28C7D7E9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2A155-BCA7-5340-0198-A2767ADD2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AD371-0FAE-86F3-B637-287BF009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269D88-53DA-6E60-564B-AADFFF38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0A0504-DB3A-E9BD-03EC-DE1FD121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88328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8BE33-6476-2311-32FF-B52B7183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5E20E7-8076-6964-E5F7-83D53AD1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6DDE27-B56B-2E6C-7955-FCE3CB64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9F8572-D537-F3B8-2BBC-77E0DE66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B186D9-47F7-4AA4-81B1-9D069168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401393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BA8D2-E222-2458-2649-ECE7C808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459E18-AE4D-74BD-9F0B-1593DB6C1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7BCFDF-45D2-338C-7813-CA9C748D3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183983-0DBC-588C-374A-78A7AE79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8596D6-5E45-86EA-6082-924B3692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76B649-8587-7EBB-2A1B-E3684CBE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42675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A4C53-0C71-9291-182B-66F047BE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CF322C-1C30-B134-7561-41596D2DF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13C8D3-1C12-A349-0EFF-83EC15E64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EAB0DA-791E-5914-8B4E-0F90DAC1E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F5FC29D-DEA4-E096-13DC-0B3AD87AE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4ED50E-9CB5-8907-A158-7775672CA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71808B-2FB0-DF3A-48ED-9C7F57F4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899919-E3FA-AEAC-095D-D66C095C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193859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23559-B4CA-6B2B-658A-62EB5832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31D85D-F862-6401-0F4F-FB4D40E0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6286E3-91B6-F235-9008-531E86BF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1403EA-CCF7-379C-6C36-8535ECC8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8155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CEC9F0-AE94-3896-43A2-B40361AF4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B623E26-DF5C-9A9F-9528-3DDCF27E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1B14DB-94AD-1255-ED14-16F198B3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76523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A905E-C4AC-34D8-7B96-E50A26493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44B998-2109-6D68-979A-31FFF660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E7E39B-0884-BA1D-A412-A4CE0C53F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F9F184-A399-A052-3D86-AB32C4FD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E47157-757F-8B8D-E732-24EB5EFBF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15497B-03AF-77A0-C75B-050AFE0A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56398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14EF4-AECC-CDAD-2D68-C24225C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F285B4-35B7-08F8-3D61-76921C60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I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CC787E-D8D3-784C-8A4B-0913F2254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0DB6E2-098D-18A6-3B0E-81FCB9DD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4D473C-619B-A668-FD57-F054D13F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5E97C9-478D-DB17-C7E6-E5EBF987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3658902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16E6C-3D63-7680-D80D-3DC8C07E5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66AC54-D352-0FFC-1DB0-44107862A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54B42F-D535-DE84-3ADD-C438BBE2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D06956-3B6E-EDB9-3536-C6D39DA4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F9C136-23BF-8575-041D-CDFC9285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3312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2B7B72-1536-9057-E3FB-868C35084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239BF5-78BD-4402-6B0F-B02E0B730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381A07-1FA5-0E65-38AF-4BCB57D8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F31562-DBD6-37F2-05BC-57B24B681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6AAE19-3D0C-C4A6-B66A-AD59102D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07671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27D4ADC-AA60-69D7-1D99-44DA22EE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I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1EDDEF-3F7E-D189-356D-5FCC74E48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I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92BE23-01CE-3CB9-7E69-114BB4215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44C88-DFA6-7446-88A0-113814A4A492}" type="datetimeFigureOut">
              <a:rPr lang="de-IT" smtClean="0"/>
              <a:t>18.04.2024</a:t>
            </a:fld>
            <a:endParaRPr lang="de-I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564157-A4B3-0CBE-24C6-E154C559B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I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81F09-1D4B-DD14-259D-12316A9B8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43003-7074-8B4A-85D3-F3DA363965A9}" type="slidenum">
              <a:rPr lang="de-IT" smtClean="0"/>
              <a:t>‹Nr.›</a:t>
            </a:fld>
            <a:endParaRPr lang="de-IT"/>
          </a:p>
        </p:txBody>
      </p:sp>
    </p:spTree>
    <p:extLst>
      <p:ext uri="{BB962C8B-B14F-4D97-AF65-F5344CB8AC3E}">
        <p14:creationId xmlns:p14="http://schemas.microsoft.com/office/powerpoint/2010/main" val="206474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35D4D-B4D9-B08C-EDE9-EF68BA40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2238"/>
            <a:ext cx="9144000" cy="2387600"/>
          </a:xfrm>
        </p:spPr>
        <p:txBody>
          <a:bodyPr/>
          <a:lstStyle/>
          <a:p>
            <a:r>
              <a:rPr lang="de-IT" dirty="0"/>
              <a:t>Lanthanide doping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ECED98-C9C0-1987-84C3-3984F775A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Solid Samples</a:t>
            </a:r>
            <a:endParaRPr lang="de-IT" dirty="0"/>
          </a:p>
        </p:txBody>
      </p:sp>
    </p:spTree>
    <p:extLst>
      <p:ext uri="{BB962C8B-B14F-4D97-AF65-F5344CB8AC3E}">
        <p14:creationId xmlns:p14="http://schemas.microsoft.com/office/powerpoint/2010/main" val="2193386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590A725-DE91-DC2E-2D92-5E8B7FE0668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590A725-DE91-DC2E-2D92-5E8B7FE06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A615840-E16F-6B5A-2485-7895A3648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ü"/>
                </a:pPr>
                <a:r>
                  <a:rPr lang="de-IT" dirty="0"/>
                  <a:t>St</a:t>
                </a:r>
                <a:r>
                  <a:rPr lang="de-DE" dirty="0"/>
                  <a:t>r</a:t>
                </a:r>
                <a:r>
                  <a:rPr lang="de-IT" dirty="0"/>
                  <a:t>ong candidate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de-IT" dirty="0"/>
                  <a:t>High fluorescence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de-IT" dirty="0"/>
                  <a:t>High temperature dep.</a:t>
                </a:r>
              </a:p>
              <a:p>
                <a:pPr>
                  <a:buFont typeface="Wingdings" pitchFamily="2" charset="2"/>
                  <a:buChar char="ü"/>
                </a:pPr>
                <a:endParaRPr lang="de-IT" dirty="0"/>
              </a:p>
              <a:p>
                <a:pPr>
                  <a:buFont typeface="Wingdings" pitchFamily="2" charset="2"/>
                  <a:buChar char="q"/>
                </a:pPr>
                <a:r>
                  <a:rPr lang="de-IT" dirty="0"/>
                  <a:t>Very narrow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IT" dirty="0"/>
                  <a:t> gaps</a:t>
                </a:r>
              </a:p>
              <a:p>
                <a:endParaRPr lang="de-IT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A615840-E16F-6B5A-2485-7895A3648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Text, Diagramm, Reihe enthält.&#10;&#10;Automatisch generierte Beschreibung">
            <a:extLst>
              <a:ext uri="{FF2B5EF4-FFF2-40B4-BE49-F238E27FC236}">
                <a16:creationId xmlns:a16="http://schemas.microsoft.com/office/drawing/2014/main" id="{7AD9A4A6-973C-35BD-0BDA-55DA3B392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25625"/>
            <a:ext cx="5105400" cy="353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326405F9-0FDC-29BD-F7AD-92D7922075E4}"/>
                  </a:ext>
                </a:extLst>
              </p:cNvPr>
              <p:cNvSpPr txBox="1"/>
              <p:nvPr/>
            </p:nvSpPr>
            <p:spPr>
              <a:xfrm>
                <a:off x="7013749" y="2451797"/>
                <a:ext cx="17584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Normalisation Peak </a:t>
                </a:r>
                <a14:m>
                  <m:oMath xmlns:m="http://schemas.openxmlformats.org/officeDocument/2006/math">
                    <m:r>
                      <a:rPr lang="de-DE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r>
                      <a:rPr lang="de-DE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sSup>
                      <m:sSupPr>
                        <m:ctrlPr>
                          <a:rPr lang="de-DE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de-DE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counts</a:t>
                </a:r>
                <a:endParaRPr lang="de-IT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326405F9-0FDC-29BD-F7AD-92D792207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749" y="2451797"/>
                <a:ext cx="1758462" cy="523220"/>
              </a:xfrm>
              <a:prstGeom prst="rect">
                <a:avLst/>
              </a:prstGeom>
              <a:blipFill>
                <a:blip r:embed="rId5"/>
                <a:stretch>
                  <a:fillRect l="-1042" t="-2326" r="-1736" b="-11628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A3949D2-A93D-09EE-92BD-88241F6D2F05}"/>
              </a:ext>
            </a:extLst>
          </p:cNvPr>
          <p:cNvCxnSpPr/>
          <p:nvPr/>
        </p:nvCxnSpPr>
        <p:spPr>
          <a:xfrm>
            <a:off x="7385538" y="2974312"/>
            <a:ext cx="221064" cy="454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1EDD6FD-9677-2EDF-63B2-BADCF2978D94}"/>
              </a:ext>
            </a:extLst>
          </p:cNvPr>
          <p:cNvSpPr txBox="1"/>
          <p:nvPr/>
        </p:nvSpPr>
        <p:spPr>
          <a:xfrm>
            <a:off x="9650604" y="3167390"/>
            <a:ext cx="1386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750nm @ 30-40%</a:t>
            </a:r>
            <a:endParaRPr lang="de-IT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1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66E8545-978C-AB73-A0DA-71BAD74E8E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66E8545-978C-AB73-A0DA-71BAD74E8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6A62A7-E045-7F22-7EE6-343B94DD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de-IT" dirty="0"/>
              <a:t>Strong candidate 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fluorescence</a:t>
            </a:r>
          </a:p>
          <a:p>
            <a:pPr>
              <a:buFont typeface="Wingdings" pitchFamily="2" charset="2"/>
              <a:buChar char="ü"/>
            </a:pPr>
            <a:r>
              <a:rPr lang="de-DE" dirty="0"/>
              <a:t>High t</a:t>
            </a:r>
            <a:r>
              <a:rPr lang="de-IT" dirty="0"/>
              <a:t>emperature de</a:t>
            </a:r>
            <a:r>
              <a:rPr lang="de-DE" dirty="0"/>
              <a:t>p.</a:t>
            </a:r>
            <a:endParaRPr lang="de-IT" dirty="0"/>
          </a:p>
          <a:p>
            <a:pPr>
              <a:buFont typeface="Wingdings" pitchFamily="2" charset="2"/>
              <a:buChar char="ü"/>
            </a:pPr>
            <a:endParaRPr lang="de-IT" dirty="0"/>
          </a:p>
          <a:p>
            <a:pPr>
              <a:buFont typeface="Wingdings" pitchFamily="2" charset="2"/>
              <a:buChar char="q"/>
            </a:pPr>
            <a:r>
              <a:rPr lang="de-IT" dirty="0"/>
              <a:t>High setup dependence</a:t>
            </a:r>
          </a:p>
          <a:p>
            <a:pPr>
              <a:buFont typeface="Wingdings" pitchFamily="2" charset="2"/>
              <a:buChar char="q"/>
            </a:pPr>
            <a:r>
              <a:rPr lang="de-IT" dirty="0"/>
              <a:t>SHG</a:t>
            </a:r>
          </a:p>
        </p:txBody>
      </p:sp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889CA3BC-2E74-6B9F-AC81-5CEEA78B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1825625"/>
            <a:ext cx="4978400" cy="353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EED94A0-AD10-D882-ADB3-2EA07F1D5DBE}"/>
                  </a:ext>
                </a:extLst>
              </p:cNvPr>
              <p:cNvSpPr txBox="1"/>
              <p:nvPr/>
            </p:nvSpPr>
            <p:spPr>
              <a:xfrm>
                <a:off x="7601578" y="2360657"/>
                <a:ext cx="178860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Normalisation Peak </a:t>
                </a:r>
                <a14:m>
                  <m:oMath xmlns:m="http://schemas.openxmlformats.org/officeDocument/2006/math">
                    <m:r>
                      <a:rPr lang="de-DE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3∙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counts</a:t>
                </a:r>
                <a:endParaRPr lang="de-IT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EED94A0-AD10-D882-ADB3-2EA07F1D5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578" y="2360657"/>
                <a:ext cx="1788607" cy="523220"/>
              </a:xfrm>
              <a:prstGeom prst="rect">
                <a:avLst/>
              </a:prstGeom>
              <a:blipFill>
                <a:blip r:embed="rId4"/>
                <a:stretch>
                  <a:fillRect l="-1024" t="-2326" b="-11628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B909616-3BFD-2E61-A4BB-1CFE7609D3BA}"/>
              </a:ext>
            </a:extLst>
          </p:cNvPr>
          <p:cNvCxnSpPr/>
          <p:nvPr/>
        </p:nvCxnSpPr>
        <p:spPr>
          <a:xfrm flipH="1">
            <a:off x="7425732" y="2883877"/>
            <a:ext cx="351692" cy="321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525EB83D-7E4F-286B-CC45-2A5F9A05DC6F}"/>
              </a:ext>
            </a:extLst>
          </p:cNvPr>
          <p:cNvSpPr txBox="1"/>
          <p:nvPr/>
        </p:nvSpPr>
        <p:spPr>
          <a:xfrm>
            <a:off x="8249697" y="3724295"/>
            <a:ext cx="1436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750nm @ 30-40%</a:t>
            </a:r>
            <a:endParaRPr lang="de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97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6EA0EE-54C2-193B-27EC-896FAE3990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06EA0EE-54C2-193B-27EC-896FAE3990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BD3533-B271-2F94-25E5-D9F6B773A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de-IT" dirty="0"/>
              <a:t>Weak dopand contribution</a:t>
            </a:r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DC956065-3EC8-84E9-F54C-E6667E5D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690688"/>
            <a:ext cx="4902200" cy="353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4A56496-CD94-C937-3635-55A6339A2358}"/>
                  </a:ext>
                </a:extLst>
              </p:cNvPr>
              <p:cNvSpPr txBox="1"/>
              <p:nvPr/>
            </p:nvSpPr>
            <p:spPr>
              <a:xfrm>
                <a:off x="8189407" y="2493031"/>
                <a:ext cx="18388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Normalisation Peak </a:t>
                </a:r>
                <a14:m>
                  <m:oMath xmlns:m="http://schemas.openxmlformats.org/officeDocument/2006/math">
                    <m:r>
                      <a:rPr lang="de-DE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3∙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counts</a:t>
                </a:r>
                <a:endParaRPr lang="de-IT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4A56496-CD94-C937-3635-55A6339A2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407" y="2493031"/>
                <a:ext cx="1838848" cy="523220"/>
              </a:xfrm>
              <a:prstGeom prst="rect">
                <a:avLst/>
              </a:prstGeom>
              <a:blipFill>
                <a:blip r:embed="rId4"/>
                <a:stretch>
                  <a:fillRect l="-993" t="-2326" b="-10465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B20DE3E-2EF6-FBE2-DDA8-140311B00626}"/>
              </a:ext>
            </a:extLst>
          </p:cNvPr>
          <p:cNvCxnSpPr/>
          <p:nvPr/>
        </p:nvCxnSpPr>
        <p:spPr>
          <a:xfrm flipH="1" flipV="1">
            <a:off x="7546312" y="2110154"/>
            <a:ext cx="1256044" cy="361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87E64CC7-D6C4-DDB0-82D7-9A2EC3A852D5}"/>
              </a:ext>
            </a:extLst>
          </p:cNvPr>
          <p:cNvSpPr txBox="1"/>
          <p:nvPr/>
        </p:nvSpPr>
        <p:spPr>
          <a:xfrm>
            <a:off x="8714434" y="3862794"/>
            <a:ext cx="14946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750nm @ 30-40%</a:t>
            </a:r>
            <a:endParaRPr lang="de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98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14770D6-97D4-F89F-8C8F-9BB97848EC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1−(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14770D6-97D4-F89F-8C8F-9BB97848E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F1417D-D1DC-CADE-B0A4-56686A94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de-IT" dirty="0"/>
              <a:t>Promising Candidate</a:t>
            </a:r>
          </a:p>
          <a:p>
            <a:pPr>
              <a:buFont typeface="Wingdings" pitchFamily="2" charset="2"/>
              <a:buChar char="ü"/>
            </a:pPr>
            <a:r>
              <a:rPr lang="de-IT" dirty="0"/>
              <a:t>High fluorescence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IT" dirty="0"/>
              <a:t>TBC</a:t>
            </a:r>
          </a:p>
          <a:p>
            <a:pPr>
              <a:buFont typeface="Courier New" panose="02070309020205020404" pitchFamily="49" charset="0"/>
              <a:buChar char="o"/>
            </a:pPr>
            <a:endParaRPr lang="de-IT" dirty="0"/>
          </a:p>
          <a:p>
            <a:pPr>
              <a:buFont typeface="Courier New" panose="02070309020205020404" pitchFamily="49" charset="0"/>
              <a:buChar char="o"/>
            </a:pPr>
            <a:endParaRPr lang="de-IT" dirty="0"/>
          </a:p>
          <a:p>
            <a:pPr>
              <a:buFont typeface="Wingdings" pitchFamily="2" charset="2"/>
              <a:buChar char="ü"/>
            </a:pPr>
            <a:endParaRPr lang="de-IT" dirty="0"/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36FB7790-9F4B-6C7A-79A6-3972FF09D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1690688"/>
            <a:ext cx="4902200" cy="353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527CD16-C046-4C7D-AB5F-C867C0534EEC}"/>
                  </a:ext>
                </a:extLst>
              </p:cNvPr>
              <p:cNvSpPr txBox="1"/>
              <p:nvPr/>
            </p:nvSpPr>
            <p:spPr>
              <a:xfrm>
                <a:off x="8229602" y="2311121"/>
                <a:ext cx="18488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Normalisation Peak </a:t>
                </a:r>
                <a14:m>
                  <m:oMath xmlns:m="http://schemas.openxmlformats.org/officeDocument/2006/math">
                    <m:r>
                      <a:rPr lang="de-DE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counts</a:t>
                </a:r>
                <a:endParaRPr lang="de-IT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527CD16-C046-4C7D-AB5F-C867C053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2" y="2311121"/>
                <a:ext cx="1848896" cy="523220"/>
              </a:xfrm>
              <a:prstGeom prst="rect">
                <a:avLst/>
              </a:prstGeom>
              <a:blipFill>
                <a:blip r:embed="rId4"/>
                <a:stretch>
                  <a:fillRect l="-990" t="-2326" b="-11628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F2B1DAE-C631-9778-3D0C-CAB5060984A6}"/>
              </a:ext>
            </a:extLst>
          </p:cNvPr>
          <p:cNvCxnSpPr>
            <a:stCxn id="4" idx="1"/>
          </p:cNvCxnSpPr>
          <p:nvPr/>
        </p:nvCxnSpPr>
        <p:spPr>
          <a:xfrm flipH="1">
            <a:off x="7345345" y="2572731"/>
            <a:ext cx="884257" cy="36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68F8720-B8D2-8E1A-857A-CE9FCC833022}"/>
              </a:ext>
            </a:extLst>
          </p:cNvPr>
          <p:cNvSpPr txBox="1"/>
          <p:nvPr/>
        </p:nvSpPr>
        <p:spPr>
          <a:xfrm>
            <a:off x="8229602" y="3700926"/>
            <a:ext cx="14645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750nm @ 30-40%</a:t>
            </a:r>
            <a:endParaRPr lang="de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A4A4580-2C6C-1FD1-B288-59C918394799}"/>
              </a:ext>
            </a:extLst>
          </p:cNvPr>
          <p:cNvSpPr txBox="1"/>
          <p:nvPr/>
        </p:nvSpPr>
        <p:spPr>
          <a:xfrm>
            <a:off x="10078498" y="2218718"/>
            <a:ext cx="1366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5%Yb 2.5%Er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B45E3CD-8FFC-807B-7C6D-C8BCC9ABCEF2}"/>
              </a:ext>
            </a:extLst>
          </p:cNvPr>
          <p:cNvSpPr/>
          <p:nvPr/>
        </p:nvSpPr>
        <p:spPr>
          <a:xfrm>
            <a:off x="10339754" y="2059912"/>
            <a:ext cx="844061" cy="17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D85B337-9279-6557-C47C-05D7894057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lang="de-IT" dirty="0"/>
                  <a:t>Temperature dependence of</a:t>
                </a:r>
                <a:br>
                  <a:rPr lang="de-IT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D85B337-9279-6557-C47C-05D789405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857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972316-0370-3F96-C56F-5409D2289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>
              <a:buFont typeface="Wingdings" pitchFamily="2" charset="2"/>
              <a:buChar char="Ø"/>
            </a:pPr>
            <a:r>
              <a:rPr lang="de-IT" dirty="0"/>
              <a:t>Erbium seams to dislike 1000+C</a:t>
            </a:r>
          </a:p>
          <a:p>
            <a:pPr marL="0" indent="0">
              <a:buNone/>
            </a:pPr>
            <a:endParaRPr lang="de-IT" dirty="0"/>
          </a:p>
        </p:txBody>
      </p:sp>
      <p:pic>
        <p:nvPicPr>
          <p:cNvPr id="5" name="Grafik 4" descr="Ein Bild, das Text, Diagramm, Reihe, Zahl enthält.&#10;&#10;Automatisch generierte Beschreibung">
            <a:extLst>
              <a:ext uri="{FF2B5EF4-FFF2-40B4-BE49-F238E27FC236}">
                <a16:creationId xmlns:a16="http://schemas.microsoft.com/office/drawing/2014/main" id="{5EDEDE15-403C-B6F3-3628-6EE044A31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4902200" cy="3530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66306B08-76F1-296C-C80E-821E06E5E9D8}"/>
                  </a:ext>
                </a:extLst>
              </p:cNvPr>
              <p:cNvSpPr txBox="1"/>
              <p:nvPr/>
            </p:nvSpPr>
            <p:spPr>
              <a:xfrm>
                <a:off x="8149212" y="3667648"/>
                <a:ext cx="18388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Normalisation Peak </a:t>
                </a:r>
                <a14:m>
                  <m:oMath xmlns:m="http://schemas.openxmlformats.org/officeDocument/2006/math">
                    <m:r>
                      <a:rPr lang="de-DE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4∙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de-DE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counts</a:t>
                </a:r>
                <a:endParaRPr lang="de-IT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66306B08-76F1-296C-C80E-821E06E5E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12" y="3667648"/>
                <a:ext cx="1838849" cy="523220"/>
              </a:xfrm>
              <a:prstGeom prst="rect">
                <a:avLst/>
              </a:prstGeom>
              <a:blipFill>
                <a:blip r:embed="rId4"/>
                <a:stretch>
                  <a:fillRect l="-997" t="-2353" b="-11765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E5A322A-89BE-AF76-BC2D-9CFCD7561F7C}"/>
              </a:ext>
            </a:extLst>
          </p:cNvPr>
          <p:cNvCxnSpPr/>
          <p:nvPr/>
        </p:nvCxnSpPr>
        <p:spPr>
          <a:xfrm flipH="1">
            <a:off x="7184571" y="4001294"/>
            <a:ext cx="944545" cy="88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3E7F707B-90E2-9435-9DDE-7BBE2AD95ED7}"/>
              </a:ext>
            </a:extLst>
          </p:cNvPr>
          <p:cNvSpPr txBox="1"/>
          <p:nvPr/>
        </p:nvSpPr>
        <p:spPr>
          <a:xfrm>
            <a:off x="7656843" y="2348981"/>
            <a:ext cx="1436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750nm @ 30-40% &amp; 100% for 900C</a:t>
            </a:r>
            <a:endParaRPr lang="de-IT" sz="1200" dirty="0"/>
          </a:p>
        </p:txBody>
      </p:sp>
    </p:spTree>
    <p:extLst>
      <p:ext uri="{BB962C8B-B14F-4D97-AF65-F5344CB8AC3E}">
        <p14:creationId xmlns:p14="http://schemas.microsoft.com/office/powerpoint/2010/main" val="370539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2524F-190D-AAB7-61C8-3966749CB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908" y="157721"/>
            <a:ext cx="9144000" cy="2387600"/>
          </a:xfrm>
        </p:spPr>
        <p:txBody>
          <a:bodyPr/>
          <a:lstStyle/>
          <a:p>
            <a:r>
              <a:rPr lang="de-IT" dirty="0"/>
              <a:t>Lanthanide doping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F047057C-5A63-2452-3938-60277F4B2E2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de-DE" dirty="0"/>
                  <a:t>Thermal sensing of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𝐶𝑢𝑆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</a:p>
              <a:p>
                <a:r>
                  <a:rPr lang="de-DE" dirty="0"/>
                  <a:t>(750nm Laser @ 70%)</a:t>
                </a:r>
              </a:p>
              <a:p>
                <a:endParaRPr lang="de-IT" dirty="0"/>
              </a:p>
            </p:txBody>
          </p:sp>
        </mc:Choice>
        <mc:Fallback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F047057C-5A63-2452-3938-60277F4B2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4779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96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119BAEF-D208-D2B0-9499-149B9CA937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119BAEF-D208-D2B0-9499-149B9CA93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38C2B169-1125-57F6-50FC-E01F15C25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7943" y="2087457"/>
            <a:ext cx="5128058" cy="3600000"/>
          </a:xfrm>
        </p:spPr>
      </p:pic>
      <p:pic>
        <p:nvPicPr>
          <p:cNvPr id="7" name="Grafik 6" descr="Ein Bild, das Diagramm, Text, Reihe, Screenshot enthält.&#10;&#10;Automatisch generierte Beschreibung">
            <a:extLst>
              <a:ext uri="{FF2B5EF4-FFF2-40B4-BE49-F238E27FC236}">
                <a16:creationId xmlns:a16="http://schemas.microsoft.com/office/drawing/2014/main" id="{90636A33-ABDB-E90E-96F2-282818C3E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87457"/>
            <a:ext cx="512805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3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370DF1E-6740-2DB9-2BC6-DA072280A7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1−0.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370DF1E-6740-2DB9-2BC6-DA072280A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99F60E5D-FEFC-18EC-E68A-227D86789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7943" y="2082724"/>
            <a:ext cx="5128057" cy="3600000"/>
          </a:xfrm>
        </p:spPr>
      </p:pic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BEC98401-9E42-8B35-D952-3944EB6DE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82724"/>
            <a:ext cx="5128057" cy="3600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D4F4E23F-2AB2-F5A5-B47D-885B04523AEE}"/>
              </a:ext>
            </a:extLst>
          </p:cNvPr>
          <p:cNvSpPr/>
          <p:nvPr/>
        </p:nvSpPr>
        <p:spPr>
          <a:xfrm>
            <a:off x="967943" y="3429000"/>
            <a:ext cx="227811" cy="208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9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764144D-9785-345A-C06A-1B59728CA00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1−0.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IT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764144D-9785-345A-C06A-1B59728CA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913D1124-5E57-A88E-7303-50B3ED272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7943" y="2085488"/>
            <a:ext cx="5128057" cy="3600000"/>
          </a:xfrm>
        </p:spPr>
      </p:pic>
      <p:pic>
        <p:nvPicPr>
          <p:cNvPr id="7" name="Grafik 6" descr="Ein Bild, das Diagramm, Text, Reihe, Screenshot enthält.&#10;&#10;Automatisch generierte Beschreibung">
            <a:extLst>
              <a:ext uri="{FF2B5EF4-FFF2-40B4-BE49-F238E27FC236}">
                <a16:creationId xmlns:a16="http://schemas.microsoft.com/office/drawing/2014/main" id="{06C3420A-2B66-137C-689B-8D9AFAC32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22457"/>
            <a:ext cx="5128057" cy="3600000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A0F577D-3059-5139-73E3-B2F15A5FAA4E}"/>
              </a:ext>
            </a:extLst>
          </p:cNvPr>
          <p:cNvSpPr/>
          <p:nvPr/>
        </p:nvSpPr>
        <p:spPr>
          <a:xfrm>
            <a:off x="967943" y="3429000"/>
            <a:ext cx="237859" cy="21855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3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8758B-2E26-3431-0D86-F97C6599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08074BD-E0D1-21C0-732A-89AD7E2B9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73980" cy="204299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noProof="1"/>
                  <a:t>Highest gab: </a:t>
                </a:r>
              </a:p>
              <a:p>
                <a:pPr marL="0" indent="0">
                  <a:buNone/>
                </a:pPr>
                <a:r>
                  <a:rPr lang="en-US" noProof="1"/>
                  <a:t>	</a:t>
                </a:r>
                <a:r>
                  <a:rPr lang="en-US" sz="2400" noProof="1"/>
                  <a:t>15% doping w/ </a:t>
                </a:r>
                <a14:m>
                  <m:oMath xmlns:m="http://schemas.openxmlformats.org/officeDocument/2006/math">
                    <m:r>
                      <a:rPr lang="de-DE" sz="2400" b="0" i="1" noProof="1" smtClean="0">
                        <a:latin typeface="Cambria Math" panose="02040503050406030204" pitchFamily="18" charset="0"/>
                      </a:rPr>
                      <m:t>0.6</m:t>
                    </m:r>
                    <m:r>
                      <a:rPr lang="de-DE" sz="24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noProof="1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noProof="1"/>
                  <a:t>Highest counts:</a:t>
                </a:r>
              </a:p>
              <a:p>
                <a:pPr marL="457200" lvl="1" indent="0">
                  <a:buNone/>
                </a:pPr>
                <a:r>
                  <a:rPr lang="en-US" noProof="1"/>
                  <a:t>	 5% doping w/ 32.000 @ N</a:t>
                </a:r>
              </a:p>
              <a:p>
                <a:pPr marL="457200" lvl="1" indent="0">
                  <a:buNone/>
                </a:pPr>
                <a:endParaRPr lang="en-US" noProof="1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08074BD-E0D1-21C0-732A-89AD7E2B9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73980" cy="2042990"/>
              </a:xfrm>
              <a:blipFill>
                <a:blip r:embed="rId2"/>
                <a:stretch>
                  <a:fillRect l="-2123" t="-5060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71B8F8B7-39E6-408C-B032-8DC047DFD6EC}"/>
              </a:ext>
            </a:extLst>
          </p:cNvPr>
          <p:cNvSpPr txBox="1"/>
          <p:nvPr/>
        </p:nvSpPr>
        <p:spPr>
          <a:xfrm>
            <a:off x="790470" y="4180115"/>
            <a:ext cx="5305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Improve measurement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dirty="0"/>
              <a:t>Decrease temp. changes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8459B8-A519-62AE-08E2-C40CF98A1C90}"/>
                  </a:ext>
                </a:extLst>
              </p:cNvPr>
              <p:cNvSpPr txBox="1"/>
              <p:nvPr/>
            </p:nvSpPr>
            <p:spPr>
              <a:xfrm>
                <a:off x="5345722" y="2012071"/>
                <a:ext cx="190918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54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8459B8-A519-62AE-08E2-C40CF98A1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2" y="2012071"/>
                <a:ext cx="1909187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954CD1-6195-5B40-2194-F017B7F32E67}"/>
                  </a:ext>
                </a:extLst>
              </p:cNvPr>
              <p:cNvSpPr txBox="1"/>
              <p:nvPr/>
            </p:nvSpPr>
            <p:spPr>
              <a:xfrm>
                <a:off x="7254909" y="2233020"/>
                <a:ext cx="4250454" cy="664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If linear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4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0" smtClean="0">
                            <a:latin typeface="Cambria Math" panose="02040503050406030204" pitchFamily="18" charset="0"/>
                          </a:rPr>
                          <m:t>0.6</m:t>
                        </m:r>
                      </m:num>
                      <m:den>
                        <m:r>
                          <a:rPr lang="de-DE" sz="2400" b="0" i="0" smtClean="0">
                            <a:latin typeface="Cambria Math" panose="02040503050406030204" pitchFamily="18" charset="0"/>
                          </a:rPr>
                          <m:t>(60−15)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den>
                    </m:f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=0.01</m:t>
                    </m:r>
                    <m:acc>
                      <m:accPr>
                        <m:chr m:val="̅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e>
                      <m:sup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954CD1-6195-5B40-2194-F017B7F32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909" y="2233020"/>
                <a:ext cx="4250454" cy="664284"/>
              </a:xfrm>
              <a:prstGeom prst="rect">
                <a:avLst/>
              </a:prstGeom>
              <a:blipFill>
                <a:blip r:embed="rId4"/>
                <a:stretch>
                  <a:fillRect l="-2152" b="-2752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72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5315F-FC98-7F71-2A6B-71FCBE287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IT" dirty="0"/>
              <a:t>Lanthanide doping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76C0E353-E1D3-FD2E-66F6-2E5EBAE062B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de-DE" dirty="0"/>
                  <a:t>Thermal sensing of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𝐶𝑢𝑆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</a:p>
              <a:p>
                <a:r>
                  <a:rPr lang="de-DE" dirty="0"/>
                  <a:t>(750nm Laser @ 70%)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Untertitel 2">
                <a:extLst>
                  <a:ext uri="{FF2B5EF4-FFF2-40B4-BE49-F238E27FC236}">
                    <a16:creationId xmlns:a16="http://schemas.microsoft.com/office/drawing/2014/main" id="{76C0E353-E1D3-FD2E-66F6-2E5EBAE06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4779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75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3D2893F-591F-53BD-09BF-1AB427FB2F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𝐶𝑢𝑆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0.10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A3D2893F-591F-53BD-09BF-1AB427FB2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nhaltsplatzhalter 4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838C9CCD-4A1F-F79C-7472-B837770A8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80892" y="2095536"/>
            <a:ext cx="5115108" cy="3600000"/>
          </a:xfrm>
        </p:spPr>
      </p:pic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35BE2FF3-9139-F5CA-800C-8D87D005D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95536"/>
            <a:ext cx="5115108" cy="3600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87C05E7-9E7E-2ED8-28C4-0266AEC760FE}"/>
              </a:ext>
            </a:extLst>
          </p:cNvPr>
          <p:cNvSpPr/>
          <p:nvPr/>
        </p:nvSpPr>
        <p:spPr>
          <a:xfrm>
            <a:off x="980892" y="3429000"/>
            <a:ext cx="275152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78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F2AC0-C813-DF5B-FB2B-C621F99F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A3D3DE-6B3D-D396-3FB1-C3E60997B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8949"/>
            <a:ext cx="3874477" cy="193245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Less overall counts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Smaller Gab</a:t>
            </a:r>
          </a:p>
        </p:txBody>
      </p:sp>
      <p:pic>
        <p:nvPicPr>
          <p:cNvPr id="6" name="Grafik 5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AF35B5BE-2C91-E133-649B-7841D86EF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97" y="3295606"/>
            <a:ext cx="3076225" cy="218160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EB3D0CB-A1C6-7495-CEB5-F9260C1A55D8}"/>
              </a:ext>
            </a:extLst>
          </p:cNvPr>
          <p:cNvSpPr txBox="1"/>
          <p:nvPr/>
        </p:nvSpPr>
        <p:spPr>
          <a:xfrm>
            <a:off x="6969124" y="3818242"/>
            <a:ext cx="3195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Higher Luminescence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Better dopant respond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C826B42-C26E-37B2-215A-38BE65E41D22}"/>
              </a:ext>
            </a:extLst>
          </p:cNvPr>
          <p:cNvCxnSpPr>
            <a:cxnSpLocks/>
          </p:cNvCxnSpPr>
          <p:nvPr/>
        </p:nvCxnSpPr>
        <p:spPr>
          <a:xfrm>
            <a:off x="5058890" y="4578019"/>
            <a:ext cx="11576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8E573D6-AE49-C3DF-D483-884A38D85FD3}"/>
              </a:ext>
            </a:extLst>
          </p:cNvPr>
          <p:cNvSpPr txBox="1"/>
          <p:nvPr/>
        </p:nvSpPr>
        <p:spPr>
          <a:xfrm>
            <a:off x="4798680" y="3679743"/>
            <a:ext cx="1678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sample, different setup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9472B5D-11CE-0C10-9D55-13A9AE9F13D7}"/>
                  </a:ext>
                </a:extLst>
              </p:cNvPr>
              <p:cNvSpPr txBox="1"/>
              <p:nvPr/>
            </p:nvSpPr>
            <p:spPr>
              <a:xfrm>
                <a:off x="2775438" y="5868852"/>
                <a:ext cx="9120554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800" dirty="0"/>
                  <a:t>Improve setup, then promising and worth a comparison!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9472B5D-11CE-0C10-9D55-13A9AE9F1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438" y="5868852"/>
                <a:ext cx="9120554" cy="800219"/>
              </a:xfrm>
              <a:prstGeom prst="rect">
                <a:avLst/>
              </a:prstGeom>
              <a:blipFill>
                <a:blip r:embed="rId3"/>
                <a:stretch>
                  <a:fillRect t="-8397" r="-1070"/>
                </a:stretch>
              </a:blipFill>
            </p:spPr>
            <p:txBody>
              <a:bodyPr/>
              <a:lstStyle/>
              <a:p>
                <a:r>
                  <a:rPr lang="de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57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Breitbild</PresentationFormat>
  <Paragraphs>62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Courier New</vt:lpstr>
      <vt:lpstr>Wingdings</vt:lpstr>
      <vt:lpstr>Office</vt:lpstr>
      <vt:lpstr>Lanthanide doping</vt:lpstr>
      <vt:lpstr>Ca_(1-x) CuSi_4 O_10:Yb_x</vt:lpstr>
      <vt:lpstr>Ca_(1-x) CuSi_4 O_10:Er_x</vt:lpstr>
      <vt:lpstr>Ba_(1-x) CuSi_4 O_10:Er_x</vt:lpstr>
      <vt:lpstr>Ca_(1-(x+y)) CuSi_4 O_10:Yb_x Er_y</vt:lpstr>
      <vt:lpstr>Temperature dependence of Ba_(1-x) CuSi_4 O_10:Er_x</vt:lpstr>
      <vt:lpstr>Lanthanide doping</vt:lpstr>
      <vt:lpstr>Ca_(1-0.05) CuSi_4 O_10:Yb_0.05</vt:lpstr>
      <vt:lpstr>Ca_(1-0.10) CuSi_4 O_10:Yb_0.10</vt:lpstr>
      <vt:lpstr>Ca_(1-0.15) CuSi_4 O_10:Yb_0.15</vt:lpstr>
      <vt:lpstr>Specifics</vt:lpstr>
      <vt:lpstr>Lanthanide doping</vt:lpstr>
      <vt:lpstr>Ca_(1-0.10) CuSi_4 O_10:Er_0.10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Lanthanide doping</dc:title>
  <dc:creator>Moretti  Mattia</dc:creator>
  <cp:lastModifiedBy>Moretti  Mattia</cp:lastModifiedBy>
  <cp:revision>5</cp:revision>
  <dcterms:created xsi:type="dcterms:W3CDTF">2024-04-17T11:24:13Z</dcterms:created>
  <dcterms:modified xsi:type="dcterms:W3CDTF">2024-04-18T15:43:20Z</dcterms:modified>
</cp:coreProperties>
</file>
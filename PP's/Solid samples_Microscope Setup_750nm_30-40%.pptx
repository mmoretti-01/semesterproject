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62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de-I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0"/>
    <p:restoredTop sz="94769"/>
  </p:normalViewPr>
  <p:slideViewPr>
    <p:cSldViewPr snapToGrid="0">
      <p:cViewPr varScale="1">
        <p:scale>
          <a:sx n="106" d="100"/>
          <a:sy n="106" d="100"/>
        </p:scale>
        <p:origin x="792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56C0D6B-F25E-C795-BC14-E757033DCAC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  <a:endParaRPr lang="de-IT"/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3C8C32D4-8BDA-17A3-544C-0D1789A289C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  <a:endParaRPr lang="de-IT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219E7990-3E50-62A7-BE7E-5F5EFC5428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444C88-DFA6-7446-88A0-113814A4A492}" type="datetimeFigureOut">
              <a:rPr lang="de-IT" smtClean="0"/>
              <a:t>17.04.24</a:t>
            </a:fld>
            <a:endParaRPr lang="de-IT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0B8351BA-86EC-4F2D-F0DF-BB82A7EB7D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IT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F3BA22EF-6056-55A9-F9AB-811FDD9B40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743003-7074-8B4A-85D3-F3DA363965A9}" type="slidenum">
              <a:rPr lang="de-IT" smtClean="0"/>
              <a:t>‹Nr.›</a:t>
            </a:fld>
            <a:endParaRPr lang="de-IT"/>
          </a:p>
        </p:txBody>
      </p:sp>
    </p:spTree>
    <p:extLst>
      <p:ext uri="{BB962C8B-B14F-4D97-AF65-F5344CB8AC3E}">
        <p14:creationId xmlns:p14="http://schemas.microsoft.com/office/powerpoint/2010/main" val="720787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611A598-B718-2230-0D07-28C7D7E965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de-IT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85B2A155-BCA7-5340-0198-A2767ADD20F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IT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E76AD371-0FAE-86F3-B637-287BF00964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444C88-DFA6-7446-88A0-113814A4A492}" type="datetimeFigureOut">
              <a:rPr lang="de-IT" smtClean="0"/>
              <a:t>17.04.24</a:t>
            </a:fld>
            <a:endParaRPr lang="de-IT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7E269D88-53DA-6E60-564B-AADFFF38EC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IT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0E0A0504-DB3A-E9BD-03EC-DE1FD121FF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743003-7074-8B4A-85D3-F3DA363965A9}" type="slidenum">
              <a:rPr lang="de-IT" smtClean="0"/>
              <a:t>‹Nr.›</a:t>
            </a:fld>
            <a:endParaRPr lang="de-IT"/>
          </a:p>
        </p:txBody>
      </p:sp>
    </p:spTree>
    <p:extLst>
      <p:ext uri="{BB962C8B-B14F-4D97-AF65-F5344CB8AC3E}">
        <p14:creationId xmlns:p14="http://schemas.microsoft.com/office/powerpoint/2010/main" val="28832893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0D8BE33-6476-2311-32FF-B52B7183A8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  <a:endParaRPr lang="de-IT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1E5E20E7-8076-6964-E5F7-83D53AD19D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F96DDE27-B56B-2E6C-7955-FCE3CB6412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444C88-DFA6-7446-88A0-113814A4A492}" type="datetimeFigureOut">
              <a:rPr lang="de-IT" smtClean="0"/>
              <a:t>17.04.24</a:t>
            </a:fld>
            <a:endParaRPr lang="de-IT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AB9F8572-D537-F3B8-2BBC-77E0DE6689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IT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3DB186D9-47F7-4AA4-81B1-9D06916854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743003-7074-8B4A-85D3-F3DA363965A9}" type="slidenum">
              <a:rPr lang="de-IT" smtClean="0"/>
              <a:t>‹Nr.›</a:t>
            </a:fld>
            <a:endParaRPr lang="de-IT"/>
          </a:p>
        </p:txBody>
      </p:sp>
    </p:spTree>
    <p:extLst>
      <p:ext uri="{BB962C8B-B14F-4D97-AF65-F5344CB8AC3E}">
        <p14:creationId xmlns:p14="http://schemas.microsoft.com/office/powerpoint/2010/main" val="40139358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D9BA8D2-E222-2458-2649-ECE7C80857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de-IT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37459E18-AE4D-74BD-9F0B-1593DB6C197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IT"/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1D7BCFDF-45D2-338C-7813-CA9C748D333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IT"/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BF183983-0DBC-588C-374A-78A7AE793C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444C88-DFA6-7446-88A0-113814A4A492}" type="datetimeFigureOut">
              <a:rPr lang="de-IT" smtClean="0"/>
              <a:t>17.04.24</a:t>
            </a:fld>
            <a:endParaRPr lang="de-IT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4B8596D6-5E45-86EA-6082-924B369270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IT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9776B649-8587-7EBB-2A1B-E3684CBE71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743003-7074-8B4A-85D3-F3DA363965A9}" type="slidenum">
              <a:rPr lang="de-IT" smtClean="0"/>
              <a:t>‹Nr.›</a:t>
            </a:fld>
            <a:endParaRPr lang="de-IT"/>
          </a:p>
        </p:txBody>
      </p:sp>
    </p:spTree>
    <p:extLst>
      <p:ext uri="{BB962C8B-B14F-4D97-AF65-F5344CB8AC3E}">
        <p14:creationId xmlns:p14="http://schemas.microsoft.com/office/powerpoint/2010/main" val="4267556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4FA4C53-0C71-9291-182B-66F047BEF4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de-IT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26CF322C-1C30-B134-7561-41596D2DF6D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4F13C8D3-1C12-A349-0EFF-83EC15E64DC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IT"/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1FEAB0DA-791E-5914-8B4E-0F90DAC1EFD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DF5FC29D-DEA4-E096-13DC-0B3AD87AEBC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IT"/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404ED50E-9CB5-8907-A158-7775672CA7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444C88-DFA6-7446-88A0-113814A4A492}" type="datetimeFigureOut">
              <a:rPr lang="de-IT" smtClean="0"/>
              <a:t>17.04.24</a:t>
            </a:fld>
            <a:endParaRPr lang="de-IT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7371808B-2FB0-DF3A-48ED-9C7F57F448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IT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1B899919-E3FA-AEAC-095D-D66C095C3C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743003-7074-8B4A-85D3-F3DA363965A9}" type="slidenum">
              <a:rPr lang="de-IT" smtClean="0"/>
              <a:t>‹Nr.›</a:t>
            </a:fld>
            <a:endParaRPr lang="de-IT"/>
          </a:p>
        </p:txBody>
      </p:sp>
    </p:spTree>
    <p:extLst>
      <p:ext uri="{BB962C8B-B14F-4D97-AF65-F5344CB8AC3E}">
        <p14:creationId xmlns:p14="http://schemas.microsoft.com/office/powerpoint/2010/main" val="19385900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3C23559-B4CA-6B2B-658A-62EB5832F7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de-IT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EB31D85D-F862-6401-0F4F-FB4D40E000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444C88-DFA6-7446-88A0-113814A4A492}" type="datetimeFigureOut">
              <a:rPr lang="de-IT" smtClean="0"/>
              <a:t>17.04.24</a:t>
            </a:fld>
            <a:endParaRPr lang="de-IT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116286E3-91B6-F235-9008-531E86BF00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IT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761403EA-CCF7-379C-6C36-8535ECC815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743003-7074-8B4A-85D3-F3DA363965A9}" type="slidenum">
              <a:rPr lang="de-IT" smtClean="0"/>
              <a:t>‹Nr.›</a:t>
            </a:fld>
            <a:endParaRPr lang="de-IT"/>
          </a:p>
        </p:txBody>
      </p:sp>
    </p:spTree>
    <p:extLst>
      <p:ext uri="{BB962C8B-B14F-4D97-AF65-F5344CB8AC3E}">
        <p14:creationId xmlns:p14="http://schemas.microsoft.com/office/powerpoint/2010/main" val="3815562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2ECEC9F0-AE94-3896-43A2-B40361AF4B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444C88-DFA6-7446-88A0-113814A4A492}" type="datetimeFigureOut">
              <a:rPr lang="de-IT" smtClean="0"/>
              <a:t>17.04.24</a:t>
            </a:fld>
            <a:endParaRPr lang="de-IT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8B623E26-DF5C-9A9F-9528-3DDCF27E7F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IT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BC1B14DB-94AD-1255-ED14-16F198B306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743003-7074-8B4A-85D3-F3DA363965A9}" type="slidenum">
              <a:rPr lang="de-IT" smtClean="0"/>
              <a:t>‹Nr.›</a:t>
            </a:fld>
            <a:endParaRPr lang="de-IT"/>
          </a:p>
        </p:txBody>
      </p:sp>
    </p:spTree>
    <p:extLst>
      <p:ext uri="{BB962C8B-B14F-4D97-AF65-F5344CB8AC3E}">
        <p14:creationId xmlns:p14="http://schemas.microsoft.com/office/powerpoint/2010/main" val="7652348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E9A905E-C4AC-34D8-7B96-E50A26493D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  <a:endParaRPr lang="de-IT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8C44B998-2109-6D68-979A-31FFF660D7C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IT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A8E7E39B-0884-BA1D-A412-A4CE0C53F9D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EEF9F184-A399-A052-3D86-AB32C4FD7D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444C88-DFA6-7446-88A0-113814A4A492}" type="datetimeFigureOut">
              <a:rPr lang="de-IT" smtClean="0"/>
              <a:t>17.04.24</a:t>
            </a:fld>
            <a:endParaRPr lang="de-IT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17E47157-757F-8B8D-E732-24EB5EFBF5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IT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5115497B-03AF-77A0-C75B-050AFE0ACC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743003-7074-8B4A-85D3-F3DA363965A9}" type="slidenum">
              <a:rPr lang="de-IT" smtClean="0"/>
              <a:t>‹Nr.›</a:t>
            </a:fld>
            <a:endParaRPr lang="de-IT"/>
          </a:p>
        </p:txBody>
      </p:sp>
    </p:spTree>
    <p:extLst>
      <p:ext uri="{BB962C8B-B14F-4D97-AF65-F5344CB8AC3E}">
        <p14:creationId xmlns:p14="http://schemas.microsoft.com/office/powerpoint/2010/main" val="35639841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9814EF4-AECC-CDAD-2D68-C24225C226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  <a:endParaRPr lang="de-IT"/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1CF285B4-35B7-08F8-3D61-76921C60D96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IT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B3CC787E-D8D3-784C-8A4B-0913F225472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110DB6E2-098D-18A6-3B0E-81FCB9DD12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444C88-DFA6-7446-88A0-113814A4A492}" type="datetimeFigureOut">
              <a:rPr lang="de-IT" smtClean="0"/>
              <a:t>17.04.24</a:t>
            </a:fld>
            <a:endParaRPr lang="de-IT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674D473C-619B-A668-FD57-F054D13FB9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IT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7F5E97C9-478D-DB17-C7E6-E5EBF987F4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743003-7074-8B4A-85D3-F3DA363965A9}" type="slidenum">
              <a:rPr lang="de-IT" smtClean="0"/>
              <a:t>‹Nr.›</a:t>
            </a:fld>
            <a:endParaRPr lang="de-IT"/>
          </a:p>
        </p:txBody>
      </p:sp>
    </p:spTree>
    <p:extLst>
      <p:ext uri="{BB962C8B-B14F-4D97-AF65-F5344CB8AC3E}">
        <p14:creationId xmlns:p14="http://schemas.microsoft.com/office/powerpoint/2010/main" val="36589022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0116E6C-3D63-7680-D80D-3DC8C07E54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de-IT"/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6866AC54-D352-0FFC-1DB0-44107862AAD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IT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FB54B42F-D535-DE84-3ADD-C438BBE231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444C88-DFA6-7446-88A0-113814A4A492}" type="datetimeFigureOut">
              <a:rPr lang="de-IT" smtClean="0"/>
              <a:t>17.04.24</a:t>
            </a:fld>
            <a:endParaRPr lang="de-IT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02D06956-3B6E-EDB9-3536-C6D39DA424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IT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37F9C136-23BF-8575-041D-CDFC9285A2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743003-7074-8B4A-85D3-F3DA363965A9}" type="slidenum">
              <a:rPr lang="de-IT" smtClean="0"/>
              <a:t>‹Nr.›</a:t>
            </a:fld>
            <a:endParaRPr lang="de-IT"/>
          </a:p>
        </p:txBody>
      </p:sp>
    </p:spTree>
    <p:extLst>
      <p:ext uri="{BB962C8B-B14F-4D97-AF65-F5344CB8AC3E}">
        <p14:creationId xmlns:p14="http://schemas.microsoft.com/office/powerpoint/2010/main" val="2331281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742B7B72-1536-9057-E3FB-868C3508478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  <a:endParaRPr lang="de-IT"/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5F239BF5-78BD-4402-6B0F-B02E0B73054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IT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67381A07-1FA5-0E65-38AF-4BCB57D805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444C88-DFA6-7446-88A0-113814A4A492}" type="datetimeFigureOut">
              <a:rPr lang="de-IT" smtClean="0"/>
              <a:t>17.04.24</a:t>
            </a:fld>
            <a:endParaRPr lang="de-IT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02F31562-DBD6-37F2-05BC-57B24B681B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IT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FC6AAE19-3D0C-C4A6-B66A-AD59102D94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743003-7074-8B4A-85D3-F3DA363965A9}" type="slidenum">
              <a:rPr lang="de-IT" smtClean="0"/>
              <a:t>‹Nr.›</a:t>
            </a:fld>
            <a:endParaRPr lang="de-IT"/>
          </a:p>
        </p:txBody>
      </p:sp>
    </p:spTree>
    <p:extLst>
      <p:ext uri="{BB962C8B-B14F-4D97-AF65-F5344CB8AC3E}">
        <p14:creationId xmlns:p14="http://schemas.microsoft.com/office/powerpoint/2010/main" val="20767172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F27D4ADC-AA60-69D7-1D99-44DA22EEE8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  <a:endParaRPr lang="de-IT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591EDDEF-3F7E-D189-356D-5FCC74E483E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IT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B492BE23-01CE-3CB9-7E69-114BB42152D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F444C88-DFA6-7446-88A0-113814A4A492}" type="datetimeFigureOut">
              <a:rPr lang="de-IT" smtClean="0"/>
              <a:t>17.04.24</a:t>
            </a:fld>
            <a:endParaRPr lang="de-IT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C9564157-A4B3-0CBE-24C6-E154C559B28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e-IT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32281F09-1D4B-DD14-259D-12316A9B86E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E743003-7074-8B4A-85D3-F3DA363965A9}" type="slidenum">
              <a:rPr lang="de-IT" smtClean="0"/>
              <a:t>‹Nr.›</a:t>
            </a:fld>
            <a:endParaRPr lang="de-IT"/>
          </a:p>
        </p:txBody>
      </p:sp>
    </p:spTree>
    <p:extLst>
      <p:ext uri="{BB962C8B-B14F-4D97-AF65-F5344CB8AC3E}">
        <p14:creationId xmlns:p14="http://schemas.microsoft.com/office/powerpoint/2010/main" val="20647465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5A35D4D-B4D9-B08C-EDE9-EF68BA4025F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122238"/>
            <a:ext cx="9144000" cy="2387600"/>
          </a:xfrm>
        </p:spPr>
        <p:txBody>
          <a:bodyPr/>
          <a:lstStyle/>
          <a:p>
            <a:r>
              <a:rPr lang="de-IT" dirty="0"/>
              <a:t>Lanthanide doping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2CECED98-C9C0-1987-84C3-3984F775A78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de-IT"/>
          </a:p>
        </p:txBody>
      </p:sp>
    </p:spTree>
    <p:extLst>
      <p:ext uri="{BB962C8B-B14F-4D97-AF65-F5344CB8AC3E}">
        <p14:creationId xmlns:p14="http://schemas.microsoft.com/office/powerpoint/2010/main" val="219338630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el 1">
                <a:extLst>
                  <a:ext uri="{FF2B5EF4-FFF2-40B4-BE49-F238E27FC236}">
                    <a16:creationId xmlns:a16="http://schemas.microsoft.com/office/drawing/2014/main" id="{3590A725-DE91-DC2E-2D92-5E8B7FE06680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b="0" i="1" smtClean="0">
                          <a:latin typeface="Cambria Math" panose="02040503050406030204" pitchFamily="18" charset="0"/>
                        </a:rPr>
                        <m:t>𝐶</m:t>
                      </m:r>
                      <m:sSub>
                        <m:sSubPr>
                          <m:ctrlPr>
                            <a:rPr lang="de-DE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1−</m:t>
                          </m:r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  <m:r>
                        <a:rPr lang="de-DE" b="0" i="1" smtClean="0">
                          <a:latin typeface="Cambria Math" panose="02040503050406030204" pitchFamily="18" charset="0"/>
                        </a:rPr>
                        <m:t>𝐶𝑢𝑆</m:t>
                      </m:r>
                      <m:sSub>
                        <m:sSubPr>
                          <m:ctrlPr>
                            <a:rPr lang="de-DE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e>
                        <m:sub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  <m:sSub>
                        <m:sSubPr>
                          <m:ctrlPr>
                            <a:rPr lang="de-DE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𝑂</m:t>
                          </m:r>
                        </m:e>
                        <m:sub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10</m:t>
                          </m:r>
                        </m:sub>
                      </m:sSub>
                      <m:r>
                        <a:rPr lang="de-DE" b="0" i="1" smtClean="0">
                          <a:latin typeface="Cambria Math" panose="02040503050406030204" pitchFamily="18" charset="0"/>
                        </a:rPr>
                        <m:t>:</m:t>
                      </m:r>
                      <m:r>
                        <a:rPr lang="de-DE" b="0" i="1" smtClean="0">
                          <a:latin typeface="Cambria Math" panose="02040503050406030204" pitchFamily="18" charset="0"/>
                        </a:rPr>
                        <m:t>𝑌</m:t>
                      </m:r>
                      <m:sSub>
                        <m:sSubPr>
                          <m:ctrlPr>
                            <a:rPr lang="de-DE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</m:oMath>
                  </m:oMathPara>
                </a14:m>
                <a:endParaRPr lang="de-IT" dirty="0"/>
              </a:p>
            </p:txBody>
          </p:sp>
        </mc:Choice>
        <mc:Fallback xmlns="">
          <p:sp>
            <p:nvSpPr>
              <p:cNvPr id="2" name="Titel 1">
                <a:extLst>
                  <a:ext uri="{FF2B5EF4-FFF2-40B4-BE49-F238E27FC236}">
                    <a16:creationId xmlns:a16="http://schemas.microsoft.com/office/drawing/2014/main" id="{3590A725-DE91-DC2E-2D92-5E8B7FE0668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e-IT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1A615840-E16F-6B5A-2485-7895A3648C4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itchFamily="2" charset="2"/>
              <a:buChar char="ü"/>
            </a:pPr>
            <a:r>
              <a:rPr lang="de-IT" dirty="0"/>
              <a:t>Stong candidate</a:t>
            </a:r>
          </a:p>
          <a:p>
            <a:pPr>
              <a:buFont typeface="Wingdings" pitchFamily="2" charset="2"/>
              <a:buChar char="ü"/>
            </a:pPr>
            <a:r>
              <a:rPr lang="de-IT" dirty="0"/>
              <a:t>High fluorescence</a:t>
            </a:r>
          </a:p>
          <a:p>
            <a:pPr>
              <a:buFont typeface="Wingdings" pitchFamily="2" charset="2"/>
              <a:buChar char="ü"/>
            </a:pPr>
            <a:r>
              <a:rPr lang="de-IT" dirty="0"/>
              <a:t>High temperature dep.</a:t>
            </a:r>
          </a:p>
          <a:p>
            <a:pPr>
              <a:buFont typeface="Wingdings" pitchFamily="2" charset="2"/>
              <a:buChar char="ü"/>
            </a:pPr>
            <a:endParaRPr lang="de-IT" dirty="0"/>
          </a:p>
          <a:p>
            <a:pPr>
              <a:buFont typeface="Wingdings" pitchFamily="2" charset="2"/>
              <a:buChar char="q"/>
            </a:pPr>
            <a:r>
              <a:rPr lang="de-IT" dirty="0"/>
              <a:t>Very narrow gaps</a:t>
            </a:r>
          </a:p>
          <a:p>
            <a:endParaRPr lang="de-IT" dirty="0"/>
          </a:p>
        </p:txBody>
      </p:sp>
      <p:pic>
        <p:nvPicPr>
          <p:cNvPr id="5" name="Grafik 4" descr="Ein Bild, das Text, Diagramm, Reihe enthält.&#10;&#10;Automatisch generierte Beschreibung">
            <a:extLst>
              <a:ext uri="{FF2B5EF4-FFF2-40B4-BE49-F238E27FC236}">
                <a16:creationId xmlns:a16="http://schemas.microsoft.com/office/drawing/2014/main" id="{7AD9A4A6-973C-35BD-0BDA-55DA3B3928E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48400" y="1825625"/>
            <a:ext cx="5105400" cy="3530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481620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el 1">
                <a:extLst>
                  <a:ext uri="{FF2B5EF4-FFF2-40B4-BE49-F238E27FC236}">
                    <a16:creationId xmlns:a16="http://schemas.microsoft.com/office/drawing/2014/main" id="{D66E8545-978C-AB73-A0DA-71BAD74E8E4C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b="0" i="1" smtClean="0">
                          <a:latin typeface="Cambria Math" panose="02040503050406030204" pitchFamily="18" charset="0"/>
                        </a:rPr>
                        <m:t>𝐶</m:t>
                      </m:r>
                      <m:sSub>
                        <m:sSubPr>
                          <m:ctrlPr>
                            <a:rPr lang="de-DE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1−</m:t>
                          </m:r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  <m:r>
                        <a:rPr lang="de-DE" b="0" i="1" smtClean="0">
                          <a:latin typeface="Cambria Math" panose="02040503050406030204" pitchFamily="18" charset="0"/>
                        </a:rPr>
                        <m:t>𝐶𝑢𝑆</m:t>
                      </m:r>
                      <m:sSub>
                        <m:sSubPr>
                          <m:ctrlPr>
                            <a:rPr lang="de-DE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e>
                        <m:sub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  <m:sSub>
                        <m:sSubPr>
                          <m:ctrlPr>
                            <a:rPr lang="de-DE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𝑂</m:t>
                          </m:r>
                        </m:e>
                        <m:sub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10</m:t>
                          </m:r>
                        </m:sub>
                      </m:sSub>
                      <m:r>
                        <a:rPr lang="de-DE" b="0" i="1" smtClean="0">
                          <a:latin typeface="Cambria Math" panose="02040503050406030204" pitchFamily="18" charset="0"/>
                        </a:rPr>
                        <m:t>:</m:t>
                      </m:r>
                      <m:r>
                        <a:rPr lang="de-DE" b="0" i="1" smtClean="0">
                          <a:latin typeface="Cambria Math" panose="02040503050406030204" pitchFamily="18" charset="0"/>
                        </a:rPr>
                        <m:t>𝐸</m:t>
                      </m:r>
                      <m:sSub>
                        <m:sSubPr>
                          <m:ctrlPr>
                            <a:rPr lang="de-DE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  <m:sub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</m:oMath>
                  </m:oMathPara>
                </a14:m>
                <a:endParaRPr lang="de-IT" dirty="0"/>
              </a:p>
            </p:txBody>
          </p:sp>
        </mc:Choice>
        <mc:Fallback xmlns="">
          <p:sp>
            <p:nvSpPr>
              <p:cNvPr id="2" name="Titel 1">
                <a:extLst>
                  <a:ext uri="{FF2B5EF4-FFF2-40B4-BE49-F238E27FC236}">
                    <a16:creationId xmlns:a16="http://schemas.microsoft.com/office/drawing/2014/main" id="{D66E8545-978C-AB73-A0DA-71BAD74E8E4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e-IT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AC6A62A7-E045-7F22-7EE6-343B94DDC4D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itchFamily="2" charset="2"/>
              <a:buChar char="ü"/>
            </a:pPr>
            <a:r>
              <a:rPr lang="de-IT" dirty="0"/>
              <a:t>Strong candidate </a:t>
            </a:r>
          </a:p>
          <a:p>
            <a:pPr>
              <a:buFont typeface="Wingdings" pitchFamily="2" charset="2"/>
              <a:buChar char="ü"/>
            </a:pPr>
            <a:r>
              <a:rPr lang="de-IT" dirty="0"/>
              <a:t>High fluorescence</a:t>
            </a:r>
          </a:p>
          <a:p>
            <a:pPr>
              <a:buFont typeface="Wingdings" pitchFamily="2" charset="2"/>
              <a:buChar char="ü"/>
            </a:pPr>
            <a:r>
              <a:rPr lang="de-IT" dirty="0"/>
              <a:t>Temperature dependent</a:t>
            </a:r>
          </a:p>
          <a:p>
            <a:pPr>
              <a:buFont typeface="Wingdings" pitchFamily="2" charset="2"/>
              <a:buChar char="ü"/>
            </a:pPr>
            <a:endParaRPr lang="de-IT" dirty="0"/>
          </a:p>
          <a:p>
            <a:pPr>
              <a:buFont typeface="Wingdings" pitchFamily="2" charset="2"/>
              <a:buChar char="q"/>
            </a:pPr>
            <a:r>
              <a:rPr lang="de-IT" dirty="0"/>
              <a:t>High setup dependence</a:t>
            </a:r>
          </a:p>
          <a:p>
            <a:pPr>
              <a:buFont typeface="Wingdings" pitchFamily="2" charset="2"/>
              <a:buChar char="q"/>
            </a:pPr>
            <a:r>
              <a:rPr lang="de-IT" dirty="0"/>
              <a:t>SHG</a:t>
            </a:r>
          </a:p>
        </p:txBody>
      </p:sp>
      <p:pic>
        <p:nvPicPr>
          <p:cNvPr id="7" name="Grafik 6" descr="Ein Bild, das Text, Diagramm, Reihe, Screenshot enthält.&#10;&#10;Automatisch generierte Beschreibung">
            <a:extLst>
              <a:ext uri="{FF2B5EF4-FFF2-40B4-BE49-F238E27FC236}">
                <a16:creationId xmlns:a16="http://schemas.microsoft.com/office/drawing/2014/main" id="{889CA3BC-2E74-6B9F-AC81-5CEEA78B587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75400" y="1825625"/>
            <a:ext cx="4978400" cy="3530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269718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el 1">
                <a:extLst>
                  <a:ext uri="{FF2B5EF4-FFF2-40B4-BE49-F238E27FC236}">
                    <a16:creationId xmlns:a16="http://schemas.microsoft.com/office/drawing/2014/main" id="{E06EA0EE-54C2-193B-27EC-896FAE39909A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b="0" i="1" smtClean="0">
                          <a:latin typeface="Cambria Math" panose="02040503050406030204" pitchFamily="18" charset="0"/>
                        </a:rPr>
                        <m:t>𝐵</m:t>
                      </m:r>
                      <m:sSub>
                        <m:sSubPr>
                          <m:ctrlPr>
                            <a:rPr lang="de-DE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1−</m:t>
                          </m:r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  <m:r>
                        <a:rPr lang="de-DE" b="0" i="1" smtClean="0">
                          <a:latin typeface="Cambria Math" panose="02040503050406030204" pitchFamily="18" charset="0"/>
                        </a:rPr>
                        <m:t>𝐶𝑢𝑆</m:t>
                      </m:r>
                      <m:sSub>
                        <m:sSubPr>
                          <m:ctrlPr>
                            <a:rPr lang="de-DE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e>
                        <m:sub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  <m:sSub>
                        <m:sSubPr>
                          <m:ctrlPr>
                            <a:rPr lang="de-DE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𝑂</m:t>
                          </m:r>
                        </m:e>
                        <m:sub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10</m:t>
                          </m:r>
                        </m:sub>
                      </m:sSub>
                      <m:r>
                        <a:rPr lang="de-DE" b="0" i="1" smtClean="0">
                          <a:latin typeface="Cambria Math" panose="02040503050406030204" pitchFamily="18" charset="0"/>
                        </a:rPr>
                        <m:t>:</m:t>
                      </m:r>
                      <m:r>
                        <a:rPr lang="de-DE" b="0" i="1" smtClean="0">
                          <a:latin typeface="Cambria Math" panose="02040503050406030204" pitchFamily="18" charset="0"/>
                        </a:rPr>
                        <m:t>𝐸</m:t>
                      </m:r>
                      <m:sSub>
                        <m:sSubPr>
                          <m:ctrlPr>
                            <a:rPr lang="de-DE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  <m:sub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</m:oMath>
                  </m:oMathPara>
                </a14:m>
                <a:endParaRPr lang="de-IT" dirty="0"/>
              </a:p>
            </p:txBody>
          </p:sp>
        </mc:Choice>
        <mc:Fallback xmlns="">
          <p:sp>
            <p:nvSpPr>
              <p:cNvPr id="2" name="Titel 1">
                <a:extLst>
                  <a:ext uri="{FF2B5EF4-FFF2-40B4-BE49-F238E27FC236}">
                    <a16:creationId xmlns:a16="http://schemas.microsoft.com/office/drawing/2014/main" id="{E06EA0EE-54C2-193B-27EC-896FAE39909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e-IT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A6BD3533-B271-2F94-25E5-D9F6B773A84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itchFamily="2" charset="2"/>
              <a:buChar char="q"/>
            </a:pPr>
            <a:r>
              <a:rPr lang="de-IT" dirty="0"/>
              <a:t>Weak dopand contribution</a:t>
            </a:r>
          </a:p>
        </p:txBody>
      </p:sp>
      <p:pic>
        <p:nvPicPr>
          <p:cNvPr id="5" name="Grafik 4" descr="Ein Bild, das Text, Diagramm, Reihe, Zahl enthält.&#10;&#10;Automatisch generierte Beschreibung">
            <a:extLst>
              <a:ext uri="{FF2B5EF4-FFF2-40B4-BE49-F238E27FC236}">
                <a16:creationId xmlns:a16="http://schemas.microsoft.com/office/drawing/2014/main" id="{DC956065-3EC8-84E9-F54C-E6667E5DF1F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51600" y="1690688"/>
            <a:ext cx="4902200" cy="3530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298744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el 1">
                <a:extLst>
                  <a:ext uri="{FF2B5EF4-FFF2-40B4-BE49-F238E27FC236}">
                    <a16:creationId xmlns:a16="http://schemas.microsoft.com/office/drawing/2014/main" id="{714770D6-97D4-F89F-8C8F-9BB97848ECE1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b="0" i="1" smtClean="0">
                          <a:latin typeface="Cambria Math" panose="02040503050406030204" pitchFamily="18" charset="0"/>
                        </a:rPr>
                        <m:t>𝐶</m:t>
                      </m:r>
                      <m:sSub>
                        <m:sSubPr>
                          <m:ctrlPr>
                            <a:rPr lang="de-DE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1−(</m:t>
                          </m:r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sub>
                      </m:sSub>
                      <m:r>
                        <a:rPr lang="de-DE" b="0" i="1" smtClean="0">
                          <a:latin typeface="Cambria Math" panose="02040503050406030204" pitchFamily="18" charset="0"/>
                        </a:rPr>
                        <m:t>𝐶𝑢𝑆</m:t>
                      </m:r>
                      <m:sSub>
                        <m:sSubPr>
                          <m:ctrlPr>
                            <a:rPr lang="de-DE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e>
                        <m:sub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  <m:sSub>
                        <m:sSubPr>
                          <m:ctrlPr>
                            <a:rPr lang="de-DE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𝑂</m:t>
                          </m:r>
                        </m:e>
                        <m:sub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10</m:t>
                          </m:r>
                        </m:sub>
                      </m:sSub>
                      <m:r>
                        <a:rPr lang="de-DE" b="0" i="1" smtClean="0">
                          <a:latin typeface="Cambria Math" panose="02040503050406030204" pitchFamily="18" charset="0"/>
                        </a:rPr>
                        <m:t>:</m:t>
                      </m:r>
                      <m:r>
                        <a:rPr lang="de-DE" b="0" i="1" smtClean="0">
                          <a:latin typeface="Cambria Math" panose="02040503050406030204" pitchFamily="18" charset="0"/>
                        </a:rPr>
                        <m:t>𝑌</m:t>
                      </m:r>
                      <m:sSub>
                        <m:sSubPr>
                          <m:ctrlPr>
                            <a:rPr lang="de-DE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  <m:r>
                        <a:rPr lang="de-DE" b="0" i="1" smtClean="0">
                          <a:latin typeface="Cambria Math" panose="02040503050406030204" pitchFamily="18" charset="0"/>
                        </a:rPr>
                        <m:t>𝐸</m:t>
                      </m:r>
                      <m:sSub>
                        <m:sSubPr>
                          <m:ctrlPr>
                            <a:rPr lang="de-DE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  <m:sub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sub>
                      </m:sSub>
                    </m:oMath>
                  </m:oMathPara>
                </a14:m>
                <a:endParaRPr lang="de-IT" dirty="0"/>
              </a:p>
            </p:txBody>
          </p:sp>
        </mc:Choice>
        <mc:Fallback xmlns="">
          <p:sp>
            <p:nvSpPr>
              <p:cNvPr id="2" name="Titel 1">
                <a:extLst>
                  <a:ext uri="{FF2B5EF4-FFF2-40B4-BE49-F238E27FC236}">
                    <a16:creationId xmlns:a16="http://schemas.microsoft.com/office/drawing/2014/main" id="{714770D6-97D4-F89F-8C8F-9BB97848ECE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e-IT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40F1417D-D1DC-CADE-B0A4-56686A94ACB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itchFamily="2" charset="2"/>
              <a:buChar char="ü"/>
            </a:pPr>
            <a:r>
              <a:rPr lang="de-IT" dirty="0"/>
              <a:t>Promising Candidate</a:t>
            </a:r>
          </a:p>
          <a:p>
            <a:pPr>
              <a:buFont typeface="Wingdings" pitchFamily="2" charset="2"/>
              <a:buChar char="ü"/>
            </a:pPr>
            <a:r>
              <a:rPr lang="de-IT" dirty="0"/>
              <a:t>High fluorescence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de-IT" dirty="0"/>
              <a:t>TBC</a:t>
            </a:r>
          </a:p>
          <a:p>
            <a:pPr>
              <a:buFont typeface="Courier New" panose="02070309020205020404" pitchFamily="49" charset="0"/>
              <a:buChar char="o"/>
            </a:pPr>
            <a:endParaRPr lang="de-IT" dirty="0"/>
          </a:p>
          <a:p>
            <a:pPr>
              <a:buFont typeface="Courier New" panose="02070309020205020404" pitchFamily="49" charset="0"/>
              <a:buChar char="o"/>
            </a:pPr>
            <a:endParaRPr lang="de-IT" dirty="0"/>
          </a:p>
          <a:p>
            <a:pPr>
              <a:buFont typeface="Wingdings" pitchFamily="2" charset="2"/>
              <a:buChar char="ü"/>
            </a:pPr>
            <a:endParaRPr lang="de-IT" dirty="0"/>
          </a:p>
        </p:txBody>
      </p:sp>
      <p:pic>
        <p:nvPicPr>
          <p:cNvPr id="5" name="Grafik 4" descr="Ein Bild, das Text, Diagramm, Reihe, Zahl enthält.&#10;&#10;Automatisch generierte Beschreibung">
            <a:extLst>
              <a:ext uri="{FF2B5EF4-FFF2-40B4-BE49-F238E27FC236}">
                <a16:creationId xmlns:a16="http://schemas.microsoft.com/office/drawing/2014/main" id="{36FB7790-9F4B-6C7A-79A6-3972FF09DCD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51600" y="1690688"/>
            <a:ext cx="4902200" cy="3530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17131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el 1">
                <a:extLst>
                  <a:ext uri="{FF2B5EF4-FFF2-40B4-BE49-F238E27FC236}">
                    <a16:creationId xmlns:a16="http://schemas.microsoft.com/office/drawing/2014/main" id="{1D85B337-9279-6557-C47C-05D7894057B1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pPr/>
                <a:r>
                  <a:rPr lang="de-IT" dirty="0"/>
                  <a:t>Temperature dependence of</a:t>
                </a:r>
                <a:br>
                  <a:rPr lang="de-IT" dirty="0"/>
                </a:b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b="0" i="1" smtClean="0">
                          <a:latin typeface="Cambria Math" panose="02040503050406030204" pitchFamily="18" charset="0"/>
                        </a:rPr>
                        <m:t>𝐵</m:t>
                      </m:r>
                      <m:sSub>
                        <m:sSubPr>
                          <m:ctrlPr>
                            <a:rPr lang="de-DE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1−</m:t>
                          </m:r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  <m:r>
                        <a:rPr lang="de-DE" b="0" i="1" smtClean="0">
                          <a:latin typeface="Cambria Math" panose="02040503050406030204" pitchFamily="18" charset="0"/>
                        </a:rPr>
                        <m:t>𝐶𝑢𝑆</m:t>
                      </m:r>
                      <m:sSub>
                        <m:sSubPr>
                          <m:ctrlPr>
                            <a:rPr lang="de-DE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e>
                        <m:sub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  <m:sSub>
                        <m:sSubPr>
                          <m:ctrlPr>
                            <a:rPr lang="de-DE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𝑂</m:t>
                          </m:r>
                        </m:e>
                        <m:sub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10</m:t>
                          </m:r>
                        </m:sub>
                      </m:sSub>
                      <m:r>
                        <a:rPr lang="de-DE" b="0" i="1" smtClean="0">
                          <a:latin typeface="Cambria Math" panose="02040503050406030204" pitchFamily="18" charset="0"/>
                        </a:rPr>
                        <m:t>:</m:t>
                      </m:r>
                      <m:r>
                        <a:rPr lang="de-DE" b="0" i="1" smtClean="0">
                          <a:latin typeface="Cambria Math" panose="02040503050406030204" pitchFamily="18" charset="0"/>
                        </a:rPr>
                        <m:t>𝐸</m:t>
                      </m:r>
                      <m:sSub>
                        <m:sSubPr>
                          <m:ctrlPr>
                            <a:rPr lang="de-DE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  <m:sub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</m:oMath>
                  </m:oMathPara>
                </a14:m>
                <a:endParaRPr lang="de-IT" dirty="0"/>
              </a:p>
            </p:txBody>
          </p:sp>
        </mc:Choice>
        <mc:Fallback xmlns="">
          <p:sp>
            <p:nvSpPr>
              <p:cNvPr id="2" name="Titel 1">
                <a:extLst>
                  <a:ext uri="{FF2B5EF4-FFF2-40B4-BE49-F238E27FC236}">
                    <a16:creationId xmlns:a16="http://schemas.microsoft.com/office/drawing/2014/main" id="{1D85B337-9279-6557-C47C-05D7894057B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2413" t="-13333" b="-2857"/>
                </a:stretch>
              </a:blipFill>
            </p:spPr>
            <p:txBody>
              <a:bodyPr/>
              <a:lstStyle/>
              <a:p>
                <a:r>
                  <a:rPr lang="de-IT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63972316-0370-3F96-C56F-5409D228901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itchFamily="2" charset="2"/>
              <a:buChar char="Ø"/>
            </a:pPr>
            <a:r>
              <a:rPr lang="de-IT" dirty="0"/>
              <a:t>Erbium seams to dislike 1000+C</a:t>
            </a:r>
          </a:p>
          <a:p>
            <a:pPr marL="0" indent="0">
              <a:buNone/>
            </a:pPr>
            <a:endParaRPr lang="de-IT" dirty="0"/>
          </a:p>
        </p:txBody>
      </p:sp>
      <p:pic>
        <p:nvPicPr>
          <p:cNvPr id="5" name="Grafik 4" descr="Ein Bild, das Text, Diagramm, Reihe, Zahl enthält.&#10;&#10;Automatisch generierte Beschreibung">
            <a:extLst>
              <a:ext uri="{FF2B5EF4-FFF2-40B4-BE49-F238E27FC236}">
                <a16:creationId xmlns:a16="http://schemas.microsoft.com/office/drawing/2014/main" id="{5EDEDE15-403C-B6F3-3628-6EE044A3106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1825625"/>
            <a:ext cx="4902200" cy="3530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539142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84</Words>
  <Application>Microsoft Macintosh PowerPoint</Application>
  <PresentationFormat>Breitbild</PresentationFormat>
  <Paragraphs>23</Paragraphs>
  <Slides>6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6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6</vt:i4>
      </vt:variant>
    </vt:vector>
  </HeadingPairs>
  <TitlesOfParts>
    <vt:vector size="13" baseType="lpstr">
      <vt:lpstr>Aptos</vt:lpstr>
      <vt:lpstr>Aptos Display</vt:lpstr>
      <vt:lpstr>Arial</vt:lpstr>
      <vt:lpstr>Cambria Math</vt:lpstr>
      <vt:lpstr>Courier New</vt:lpstr>
      <vt:lpstr>Wingdings</vt:lpstr>
      <vt:lpstr>Office</vt:lpstr>
      <vt:lpstr>Lanthanide doping</vt:lpstr>
      <vt:lpstr>Ca_(1-x) CuSi_4 O_10:Yb_x</vt:lpstr>
      <vt:lpstr>Ca_(1-x) CuSi_4 O_10:Er_x</vt:lpstr>
      <vt:lpstr>Ba_(1-x) CuSi_4 O_10:Er_x</vt:lpstr>
      <vt:lpstr>Ca_(1-(x+y)) CuSi_4 O_10:Yb_x Er_y</vt:lpstr>
      <vt:lpstr>Temperature dependence of Ba_(1-x) CuSi_4 O_10:Er_x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Lanthanide doping</dc:title>
  <dc:creator>Moretti  Mattia</dc:creator>
  <cp:lastModifiedBy>Moretti  Mattia</cp:lastModifiedBy>
  <cp:revision>1</cp:revision>
  <dcterms:created xsi:type="dcterms:W3CDTF">2024-04-17T11:24:13Z</dcterms:created>
  <dcterms:modified xsi:type="dcterms:W3CDTF">2024-04-17T13:07:35Z</dcterms:modified>
</cp:coreProperties>
</file>